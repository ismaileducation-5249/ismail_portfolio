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657600" cy="36576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88FF"/>
                </a:solidFill>
                <a:latin typeface="Aptos"/>
              </a:rPr>
              <a:t>DIGITAL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7132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300" b="1">
                <a:solidFill>
                  <a:srgbClr val="F4F7FB"/>
                </a:solidFill>
                <a:latin typeface="Aptos"/>
              </a:rPr>
              <a:t>Growth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6583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9CA8BB"/>
                </a:solidFill>
                <a:latin typeface="Aptos"/>
              </a:rPr>
              <a:t>A modern 2026 growth plan for a small business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999232"/>
            <a:ext cx="2148840" cy="530352"/>
          </a:xfrm>
          <a:prstGeom prst="roundRect">
            <a:avLst/>
          </a:prstGeom>
          <a:solidFill>
            <a:srgbClr val="1488FF"/>
          </a:solidFill>
          <a:ln w="10160">
            <a:solidFill>
              <a:srgbClr val="1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713232" y="3136392"/>
            <a:ext cx="2148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VIEW STRATEGY 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25312"/>
            <a:ext cx="3291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9CA8BB"/>
                </a:solidFill>
                <a:latin typeface="Aptos"/>
              </a:rPr>
              <a:t>PORTFOLIO PRESENTATION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325880"/>
            <a:ext cx="3474720" cy="3977639"/>
          </a:xfrm>
          <a:prstGeom prst="roundRect">
            <a:avLst/>
          </a:prstGeom>
          <a:solidFill>
            <a:srgbClr val="0B1625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0020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9CA8BB"/>
                </a:solidFill>
                <a:latin typeface="Aptos"/>
              </a:rPr>
              <a:t>CAMPAIGN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0312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9CA8BB"/>
                </a:solidFill>
                <a:latin typeface="Aptos"/>
              </a:rPr>
              <a:t>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011680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F4F7FB"/>
                </a:solidFill>
                <a:latin typeface="Aptos"/>
              </a:rPr>
              <a:t>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8892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9CA8BB"/>
                </a:solidFill>
                <a:latin typeface="Aptos"/>
              </a:rPr>
              <a:t>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697480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F4F7FB"/>
                </a:solidFill>
                <a:latin typeface="Aptos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7472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9CA8BB"/>
                </a:solidFill>
                <a:latin typeface="Aptos"/>
              </a:rPr>
              <a:t>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383280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F4F7FB"/>
                </a:solidFill>
                <a:latin typeface="Aptos"/>
              </a:rPr>
              <a:t>5.0%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886200"/>
            <a:ext cx="320040" cy="91440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9367" y="3474720"/>
            <a:ext cx="320040" cy="132588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26296" y="3063240"/>
            <a:ext cx="320040" cy="173736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93224" y="2560320"/>
            <a:ext cx="320040" cy="224028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9CA8BB"/>
                </a:solidFill>
                <a:latin typeface="Aptos"/>
              </a:rPr>
              <a:t>ISMAIL  •  DIGITAL MARKETING STRATEGY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657600" cy="36576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88FF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Business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9CA8BB"/>
                </a:solidFill>
                <a:latin typeface="Aptos"/>
              </a:rPr>
              <a:t>The strategy connects awareness, engagement and conversion.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297180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45720" cy="297180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95728"/>
            <a:ext cx="301752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• Low online visibility
• Inconsistent content
• Limited qualified leads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297180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45720" cy="29718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THE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301752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• Consistent branding
• Targeted content
• Measurable campaigns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383280" cy="297180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45720" cy="2971800"/>
          </a:xfrm>
          <a:prstGeom prst="rect">
            <a:avLst/>
          </a:prstGeom>
          <a:solidFill>
            <a:srgbClr val="48C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THE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95728"/>
            <a:ext cx="301752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• Increase awareness
• Generate leads
• Convert interest into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30368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9CA8BB"/>
                </a:solidFill>
                <a:latin typeface="Aptos"/>
              </a:rPr>
              <a:t>Strategy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5074920"/>
            <a:ext cx="2148840" cy="594360"/>
          </a:xfrm>
          <a:prstGeom prst="roundRect">
            <a:avLst/>
          </a:prstGeom>
          <a:solidFill>
            <a:srgbClr val="1488FF"/>
          </a:solidFill>
          <a:ln w="10160">
            <a:solidFill>
              <a:srgbClr val="1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5239512"/>
            <a:ext cx="2148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4F7FB"/>
                </a:solidFill>
                <a:latin typeface="Aptos"/>
              </a:rPr>
              <a:t>AWARENESS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5074920"/>
            <a:ext cx="2148840" cy="594360"/>
          </a:xfrm>
          <a:prstGeom prst="roundRect">
            <a:avLst/>
          </a:prstGeom>
          <a:solidFill>
            <a:srgbClr val="8D4CFF"/>
          </a:solidFill>
          <a:ln w="10160">
            <a:solidFill>
              <a:srgbClr val="8D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5239512"/>
            <a:ext cx="2148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4F7FB"/>
                </a:solidFill>
                <a:latin typeface="Aptos"/>
              </a:rPr>
              <a:t>ENGAGEMENT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5074920"/>
            <a:ext cx="2148840" cy="594360"/>
          </a:xfrm>
          <a:prstGeom prst="roundRect">
            <a:avLst/>
          </a:prstGeom>
          <a:solidFill>
            <a:srgbClr val="48CD8B"/>
          </a:solidFill>
          <a:ln w="10160">
            <a:solidFill>
              <a:srgbClr val="48C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5239512"/>
            <a:ext cx="2148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4F7FB"/>
                </a:solidFill>
                <a:latin typeface="Aptos"/>
              </a:rPr>
              <a:t>CONVERSION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9CA8BB"/>
                </a:solidFill>
                <a:latin typeface="Aptos"/>
              </a:rPr>
              <a:t>ISMAIL  •  DIGITAL MARKETING STRATEGY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657600" cy="36576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88F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9CA8BB"/>
                </a:solidFill>
                <a:latin typeface="Aptos"/>
              </a:rPr>
              <a:t>A focused audience makes content and advertising more effective.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338328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45720" cy="338328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01 •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95728"/>
            <a:ext cx="3017520" cy="2697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Age: 18–40
Location: Local / regional
Interests: Products, services, deals
Behavior: Mobile-first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38328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45720" cy="338328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02 • PAIN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3017520" cy="2697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Needs quick information
Wants trustworthy brands
Compares options online
Responds to clear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383280" cy="338328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45720" cy="338328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03 •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95728"/>
            <a:ext cx="3017520" cy="2697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Simple
Useful
Visual
Action-focused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9CA8BB"/>
                </a:solidFill>
                <a:latin typeface="Aptos"/>
              </a:rPr>
              <a:t>ISMAIL  •  DIGITAL MARKETING STRATEGY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657600" cy="36576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88FF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Marketing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9CA8BB"/>
                </a:solidFill>
                <a:latin typeface="Aptos"/>
              </a:rPr>
              <a:t>Illustrative 90-day targets presented as a client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514600" cy="141732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9CA8BB"/>
                </a:solidFill>
                <a:latin typeface="Aptos"/>
              </a:rPr>
              <a:t>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2103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88FF"/>
                </a:solidFill>
                <a:latin typeface="Aptos"/>
              </a:rPr>
              <a:t>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1031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9CA8BB"/>
                </a:solidFill>
                <a:latin typeface="Aptos"/>
              </a:rPr>
              <a:t>Monthly impressions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514600" cy="141732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9CA8BB"/>
                </a:solidFill>
                <a:latin typeface="Aptos"/>
              </a:rPr>
              <a:t>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04288"/>
            <a:ext cx="2103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8D4CFF"/>
                </a:solidFill>
                <a:latin typeface="Aptos"/>
              </a:rPr>
              <a:t>8.0%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43200"/>
            <a:ext cx="21031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9CA8BB"/>
                </a:solidFill>
                <a:latin typeface="Aptos"/>
              </a:rPr>
              <a:t>Average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2514600" cy="141732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9CA8BB"/>
                </a:solidFill>
                <a:latin typeface="Aptos"/>
              </a:rPr>
              <a:t>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04288"/>
            <a:ext cx="2103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48CD8B"/>
                </a:solidFill>
                <a:latin typeface="Aptos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43200"/>
            <a:ext cx="21031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9CA8BB"/>
                </a:solidFill>
                <a:latin typeface="Aptos"/>
              </a:rPr>
              <a:t>Qualified inquiries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514600" cy="141732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011680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9CA8BB"/>
                </a:solidFill>
                <a:latin typeface="Aptos"/>
              </a:rPr>
              <a:t>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304288"/>
            <a:ext cx="2103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48AEFF"/>
                </a:solidFill>
                <a:latin typeface="Aptos"/>
              </a:rPr>
              <a:t>5.0%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743200"/>
            <a:ext cx="21031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9CA8BB"/>
                </a:solidFill>
                <a:latin typeface="Aptos"/>
              </a:rPr>
              <a:t>Lead-to-customer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4F7FB"/>
                </a:solidFill>
                <a:latin typeface="Aptos"/>
              </a:rPr>
              <a:t>90-Day Target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9CA8BB"/>
                </a:solidFill>
                <a:latin typeface="Aptos"/>
              </a:rPr>
              <a:t>Reach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270248"/>
            <a:ext cx="8046720" cy="146304"/>
          </a:xfrm>
          <a:prstGeom prst="rect">
            <a:avLst/>
          </a:prstGeom>
          <a:solidFill>
            <a:srgbClr val="1C293A"/>
          </a:solidFill>
          <a:ln w="10160">
            <a:solidFill>
              <a:srgbClr val="1C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74519" y="4270248"/>
            <a:ext cx="6598310" cy="146304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420624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1488FF"/>
                </a:solidFill>
                <a:latin typeface="Aptos"/>
              </a:rPr>
              <a:t>82%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90872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9CA8BB"/>
                </a:solidFill>
                <a:latin typeface="Aptos"/>
              </a:rPr>
              <a:t>Engagement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4709160"/>
            <a:ext cx="8046720" cy="146304"/>
          </a:xfrm>
          <a:prstGeom prst="rect">
            <a:avLst/>
          </a:prstGeom>
          <a:solidFill>
            <a:srgbClr val="1C293A"/>
          </a:solidFill>
          <a:ln w="10160">
            <a:solidFill>
              <a:srgbClr val="1C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74519" y="4709160"/>
            <a:ext cx="5471769" cy="146304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4645152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8D4CFF"/>
                </a:solidFill>
                <a:latin typeface="Aptos"/>
              </a:rPr>
              <a:t>68%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29784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9CA8BB"/>
                </a:solidFill>
                <a:latin typeface="Aptos"/>
              </a:rPr>
              <a:t>Leads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5148072"/>
            <a:ext cx="8046720" cy="146304"/>
          </a:xfrm>
          <a:prstGeom prst="rect">
            <a:avLst/>
          </a:prstGeom>
          <a:solidFill>
            <a:srgbClr val="1C293A"/>
          </a:solidFill>
          <a:ln w="10160">
            <a:solidFill>
              <a:srgbClr val="1C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74519" y="5148072"/>
            <a:ext cx="4425696" cy="146304"/>
          </a:xfrm>
          <a:prstGeom prst="rect">
            <a:avLst/>
          </a:prstGeom>
          <a:solidFill>
            <a:srgbClr val="48C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5084064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48CD8B"/>
                </a:solidFill>
                <a:latin typeface="Aptos"/>
              </a:rPr>
              <a:t>55%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568696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9CA8BB"/>
                </a:solidFill>
                <a:latin typeface="Aptos"/>
              </a:rPr>
              <a:t>Conversion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5586983"/>
            <a:ext cx="8046720" cy="146304"/>
          </a:xfrm>
          <a:prstGeom prst="rect">
            <a:avLst/>
          </a:prstGeom>
          <a:solidFill>
            <a:srgbClr val="1C293A"/>
          </a:solidFill>
          <a:ln w="10160">
            <a:solidFill>
              <a:srgbClr val="1C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74519" y="5586983"/>
            <a:ext cx="3621024" cy="146304"/>
          </a:xfrm>
          <a:prstGeom prst="rect">
            <a:avLst/>
          </a:prstGeom>
          <a:solidFill>
            <a:srgbClr val="48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5522976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48AEFF"/>
                </a:solidFill>
                <a:latin typeface="Aptos"/>
              </a:rPr>
              <a:t>45%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9CA8BB"/>
                </a:solidFill>
                <a:latin typeface="Aptos"/>
              </a:rPr>
              <a:t>ISMAIL  •  DIGITAL MARKETING STRATEGY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657600" cy="36576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88FF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9CA8BB"/>
                </a:solidFill>
                <a:latin typeface="Aptos"/>
              </a:rPr>
              <a:t>Every channel gets a clear role in the customer journey.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342900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45720" cy="342900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95728"/>
            <a:ext cx="301752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REACH
Reels for discovery
ENGAGE
Carousels &amp; stories
CTA
DM /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42900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45720" cy="3429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301752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TRUST
Community posts
PROMOTE
Offers &amp; testimonials
CTA
Message / Visit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383280" cy="342900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45720" cy="3429000"/>
          </a:xfrm>
          <a:prstGeom prst="rect">
            <a:avLst/>
          </a:prstGeom>
          <a:solidFill>
            <a:srgbClr val="48C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TIKTOK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95728"/>
            <a:ext cx="301752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DISCOVER
Short-form video
CONNECT
Tips &amp; trends
CTA
Profile / Website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9CA8BB"/>
                </a:solidFill>
                <a:latin typeface="Aptos"/>
              </a:rPr>
              <a:t>ISMAIL  •  DIGITAL MARKETING STRATEGY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657600" cy="36576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88F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Content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9CA8BB"/>
                </a:solidFill>
                <a:latin typeface="Aptos"/>
              </a:rPr>
              <a:t>A balanced content mix keeps the audience informed, engaged and ready to 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657600" cy="356616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CONTENT MIX</a:t>
            </a:r>
          </a:p>
        </p:txBody>
      </p:sp>
      <p:sp>
        <p:nvSpPr>
          <p:cNvPr id="8" name="Oval 7"/>
          <p:cNvSpPr/>
          <p:nvPr/>
        </p:nvSpPr>
        <p:spPr>
          <a:xfrm>
            <a:off x="1444752" y="2743200"/>
            <a:ext cx="2057400" cy="2057400"/>
          </a:xfrm>
          <a:prstGeom prst="ellipse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9072" y="3017520"/>
            <a:ext cx="1508760" cy="1508760"/>
          </a:xfrm>
          <a:prstGeom prst="ellipse">
            <a:avLst/>
          </a:prstGeom>
          <a:solidFill>
            <a:srgbClr val="8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93392" y="3291840"/>
            <a:ext cx="960120" cy="960120"/>
          </a:xfrm>
          <a:prstGeom prst="ellipse">
            <a:avLst/>
          </a:prstGeom>
          <a:solidFill>
            <a:srgbClr val="48C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3108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4F7FB"/>
                </a:solidFill>
                <a:latin typeface="Aptos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3108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9CA8BB"/>
                </a:solidFill>
                <a:latin typeface="Aptos"/>
              </a:rPr>
              <a:t>Educational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874519"/>
            <a:ext cx="6263640" cy="64008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020824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88FF"/>
                </a:solidFill>
                <a:latin typeface="Aptos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020824"/>
            <a:ext cx="1645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4F7FB"/>
                </a:solidFill>
                <a:latin typeface="Aptos"/>
              </a:rPr>
              <a:t>Educational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020824"/>
            <a:ext cx="3154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9CA8BB"/>
                </a:solidFill>
                <a:latin typeface="Aptos"/>
              </a:rPr>
              <a:t>Tips • Guides • FAQs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697479"/>
            <a:ext cx="6263640" cy="64008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843784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8D4CFF"/>
                </a:solidFill>
                <a:latin typeface="Aptos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843784"/>
            <a:ext cx="1645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4F7FB"/>
                </a:solidFill>
                <a:latin typeface="Aptos"/>
              </a:rPr>
              <a:t>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843784"/>
            <a:ext cx="3154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9CA8BB"/>
                </a:solidFill>
                <a:latin typeface="Aptos"/>
              </a:rPr>
              <a:t>Questions • Polls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520439"/>
            <a:ext cx="6263640" cy="64008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666744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48CD8B"/>
                </a:solidFill>
                <a:latin typeface="Aptos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666744"/>
            <a:ext cx="1645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4F7FB"/>
                </a:solidFill>
                <a:latin typeface="Aptos"/>
              </a:rPr>
              <a:t>Promotional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666744"/>
            <a:ext cx="3154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9CA8BB"/>
                </a:solidFill>
                <a:latin typeface="Aptos"/>
              </a:rPr>
              <a:t>Offers • Products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4343400"/>
            <a:ext cx="6263640" cy="64008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4489704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48AEFF"/>
                </a:solidFill>
                <a:latin typeface="Aptos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489704"/>
            <a:ext cx="1645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4F7FB"/>
                </a:solidFill>
                <a:latin typeface="Aptos"/>
              </a:rPr>
              <a:t>Social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489704"/>
            <a:ext cx="3154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9CA8BB"/>
                </a:solidFill>
                <a:latin typeface="Aptos"/>
              </a:rPr>
              <a:t>Reviews •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9CA8BB"/>
                </a:solidFill>
                <a:latin typeface="Aptos"/>
              </a:rPr>
              <a:t>ISMAIL  •  DIGITAL MARKETING STRATEGY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657600" cy="36576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88FF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30-Day Campaign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9CA8BB"/>
                </a:solidFill>
                <a:latin typeface="Aptos"/>
              </a:rPr>
              <a:t>A simple weekly rhythm for consistent publishing and conversion.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514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488FF"/>
                </a:solidFill>
                <a:latin typeface="Aptos"/>
              </a:rPr>
              <a:t>WEEK 01</a:t>
            </a:r>
          </a:p>
        </p:txBody>
      </p:sp>
      <p:sp>
        <p:nvSpPr>
          <p:cNvPr id="7" name="Oval 6"/>
          <p:cNvSpPr/>
          <p:nvPr/>
        </p:nvSpPr>
        <p:spPr>
          <a:xfrm>
            <a:off x="1691640" y="2514600"/>
            <a:ext cx="274320" cy="274320"/>
          </a:xfrm>
          <a:prstGeom prst="ellipse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965960" y="2651760"/>
            <a:ext cx="1371600" cy="0"/>
          </a:xfrm>
          <a:prstGeom prst="line">
            <a:avLst/>
          </a:prstGeom>
          <a:ln w="25400">
            <a:solidFill>
              <a:srgbClr val="2D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" y="3063240"/>
            <a:ext cx="2514600" cy="214884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063240"/>
            <a:ext cx="45720" cy="214884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27832"/>
            <a:ext cx="2148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AWARENESS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0168"/>
            <a:ext cx="21488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Brand intro
Problem-focused content
Reach campaign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057400"/>
            <a:ext cx="2514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8D4CFF"/>
                </a:solidFill>
                <a:latin typeface="Aptos"/>
              </a:rPr>
              <a:t>WEEK 02</a:t>
            </a:r>
          </a:p>
        </p:txBody>
      </p:sp>
      <p:sp>
        <p:nvSpPr>
          <p:cNvPr id="14" name="Oval 13"/>
          <p:cNvSpPr/>
          <p:nvPr/>
        </p:nvSpPr>
        <p:spPr>
          <a:xfrm>
            <a:off x="4544568" y="2514600"/>
            <a:ext cx="274320" cy="274320"/>
          </a:xfrm>
          <a:prstGeom prst="ellipse">
            <a:avLst/>
          </a:prstGeom>
          <a:solidFill>
            <a:srgbClr val="8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818888" y="2651760"/>
            <a:ext cx="1371600" cy="0"/>
          </a:xfrm>
          <a:prstGeom prst="line">
            <a:avLst/>
          </a:prstGeom>
          <a:ln w="25400">
            <a:solidFill>
              <a:srgbClr val="2D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7288" y="3063240"/>
            <a:ext cx="2514600" cy="214884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47288" y="3063240"/>
            <a:ext cx="45720" cy="214884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3227832"/>
            <a:ext cx="2148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630168"/>
            <a:ext cx="21488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Tips &amp; carousel
Polls / Q&amp;A
Community posts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057400"/>
            <a:ext cx="2514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48AEFF"/>
                </a:solidFill>
                <a:latin typeface="Aptos"/>
              </a:rPr>
              <a:t>WEEK 03</a:t>
            </a:r>
          </a:p>
        </p:txBody>
      </p:sp>
      <p:sp>
        <p:nvSpPr>
          <p:cNvPr id="21" name="Oval 20"/>
          <p:cNvSpPr/>
          <p:nvPr/>
        </p:nvSpPr>
        <p:spPr>
          <a:xfrm>
            <a:off x="7397496" y="2514600"/>
            <a:ext cx="274320" cy="274320"/>
          </a:xfrm>
          <a:prstGeom prst="ellipse">
            <a:avLst/>
          </a:prstGeom>
          <a:solidFill>
            <a:srgbClr val="48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671816" y="2651760"/>
            <a:ext cx="1371600" cy="0"/>
          </a:xfrm>
          <a:prstGeom prst="line">
            <a:avLst/>
          </a:prstGeom>
          <a:ln w="25400">
            <a:solidFill>
              <a:srgbClr val="2D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00216" y="3063240"/>
            <a:ext cx="2514600" cy="214884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0216" y="3063240"/>
            <a:ext cx="45720" cy="2148840"/>
          </a:xfrm>
          <a:prstGeom prst="rect">
            <a:avLst/>
          </a:prstGeom>
          <a:solidFill>
            <a:srgbClr val="48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3227832"/>
            <a:ext cx="2148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PROMOTION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30168"/>
            <a:ext cx="21488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Offer reveal
Product benefits
Retargeting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2057400"/>
            <a:ext cx="2514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48CD8B"/>
                </a:solidFill>
                <a:latin typeface="Aptos"/>
              </a:rPr>
              <a:t>WEEK 04</a:t>
            </a:r>
          </a:p>
        </p:txBody>
      </p:sp>
      <p:sp>
        <p:nvSpPr>
          <p:cNvPr id="28" name="Oval 27"/>
          <p:cNvSpPr/>
          <p:nvPr/>
        </p:nvSpPr>
        <p:spPr>
          <a:xfrm>
            <a:off x="10250424" y="2514600"/>
            <a:ext cx="274320" cy="274320"/>
          </a:xfrm>
          <a:prstGeom prst="ellipse">
            <a:avLst/>
          </a:prstGeom>
          <a:solidFill>
            <a:srgbClr val="48C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53144" y="3063240"/>
            <a:ext cx="2514600" cy="214884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53144" y="3063240"/>
            <a:ext cx="45720" cy="2148840"/>
          </a:xfrm>
          <a:prstGeom prst="rect">
            <a:avLst/>
          </a:prstGeom>
          <a:solidFill>
            <a:srgbClr val="48C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6024" y="3227832"/>
            <a:ext cx="2148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3630168"/>
            <a:ext cx="21488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Testimonials
Strong CTA
Lead follow-up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9CA8BB"/>
                </a:solidFill>
                <a:latin typeface="Aptos"/>
              </a:rPr>
              <a:t>ISMAIL  •  DIGITAL MARKETING STRATEGY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657600" cy="36576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88FF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9CA8BB"/>
                </a:solidFill>
                <a:latin typeface="Aptos"/>
              </a:rPr>
              <a:t>Illustrative reporting view — designed to show how campaign results can be communicated.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7315200" cy="356616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9CA8BB"/>
                </a:solidFill>
                <a:latin typeface="Aptos"/>
              </a:rPr>
              <a:t>Engagement 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4983480"/>
            <a:ext cx="6309360" cy="9144"/>
          </a:xfrm>
          <a:prstGeom prst="rect">
            <a:avLst/>
          </a:prstGeom>
          <a:solidFill>
            <a:srgbClr val="2D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4434840"/>
            <a:ext cx="6309360" cy="9144"/>
          </a:xfrm>
          <a:prstGeom prst="rect">
            <a:avLst/>
          </a:prstGeom>
          <a:solidFill>
            <a:srgbClr val="2D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3886200"/>
            <a:ext cx="6309360" cy="9144"/>
          </a:xfrm>
          <a:prstGeom prst="rect">
            <a:avLst/>
          </a:prstGeom>
          <a:solidFill>
            <a:srgbClr val="2D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3337560"/>
            <a:ext cx="6309360" cy="9144"/>
          </a:xfrm>
          <a:prstGeom prst="rect">
            <a:avLst/>
          </a:prstGeom>
          <a:solidFill>
            <a:srgbClr val="2D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788920"/>
            <a:ext cx="6309360" cy="9144"/>
          </a:xfrm>
          <a:prstGeom prst="rect">
            <a:avLst/>
          </a:prstGeom>
          <a:solidFill>
            <a:srgbClr val="2D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8136" y="4599432"/>
            <a:ext cx="109728" cy="109728"/>
          </a:xfrm>
          <a:prstGeom prst="ellipse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389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9CA8BB"/>
                </a:solidFill>
                <a:latin typeface="Aptos"/>
              </a:rPr>
              <a:t>Jan</a:t>
            </a:r>
          </a:p>
        </p:txBody>
      </p:sp>
      <p:sp>
        <p:nvSpPr>
          <p:cNvPr id="15" name="Oval 14"/>
          <p:cNvSpPr/>
          <p:nvPr/>
        </p:nvSpPr>
        <p:spPr>
          <a:xfrm>
            <a:off x="2139696" y="4146804"/>
            <a:ext cx="109728" cy="109728"/>
          </a:xfrm>
          <a:prstGeom prst="ellipse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79" y="51389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9CA8BB"/>
                </a:solidFill>
                <a:latin typeface="Aptos"/>
              </a:rPr>
              <a:t>Feb</a:t>
            </a:r>
          </a:p>
        </p:txBody>
      </p:sp>
      <p:sp>
        <p:nvSpPr>
          <p:cNvPr id="17" name="Oval 16"/>
          <p:cNvSpPr/>
          <p:nvPr/>
        </p:nvSpPr>
        <p:spPr>
          <a:xfrm>
            <a:off x="3191256" y="3794760"/>
            <a:ext cx="109728" cy="109728"/>
          </a:xfrm>
          <a:prstGeom prst="ellipse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39" y="51389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9CA8BB"/>
                </a:solidFill>
                <a:latin typeface="Aptos"/>
              </a:rPr>
              <a:t>Mar</a:t>
            </a:r>
          </a:p>
        </p:txBody>
      </p:sp>
      <p:sp>
        <p:nvSpPr>
          <p:cNvPr id="19" name="Oval 18"/>
          <p:cNvSpPr/>
          <p:nvPr/>
        </p:nvSpPr>
        <p:spPr>
          <a:xfrm>
            <a:off x="4242816" y="3392424"/>
            <a:ext cx="109728" cy="109728"/>
          </a:xfrm>
          <a:prstGeom prst="ellipse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9" y="51389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9CA8BB"/>
                </a:solidFill>
                <a:latin typeface="Aptos"/>
              </a:rPr>
              <a:t>Apr</a:t>
            </a:r>
          </a:p>
        </p:txBody>
      </p:sp>
      <p:sp>
        <p:nvSpPr>
          <p:cNvPr id="21" name="Oval 20"/>
          <p:cNvSpPr/>
          <p:nvPr/>
        </p:nvSpPr>
        <p:spPr>
          <a:xfrm>
            <a:off x="5294376" y="2990088"/>
            <a:ext cx="109728" cy="109728"/>
          </a:xfrm>
          <a:prstGeom prst="ellipse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59" y="51389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9CA8BB"/>
                </a:solidFill>
                <a:latin typeface="Aptos"/>
              </a:rPr>
              <a:t>May</a:t>
            </a:r>
          </a:p>
        </p:txBody>
      </p:sp>
      <p:sp>
        <p:nvSpPr>
          <p:cNvPr id="23" name="Oval 22"/>
          <p:cNvSpPr/>
          <p:nvPr/>
        </p:nvSpPr>
        <p:spPr>
          <a:xfrm>
            <a:off x="6345936" y="2587752"/>
            <a:ext cx="109728" cy="109728"/>
          </a:xfrm>
          <a:prstGeom prst="ellipse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13892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9CA8BB"/>
                </a:solidFill>
                <a:latin typeface="Aptos"/>
              </a:rPr>
              <a:t>Jun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143000" y="4201668"/>
            <a:ext cx="1051560" cy="452628"/>
          </a:xfrm>
          <a:prstGeom prst="line">
            <a:avLst/>
          </a:prstGeom>
          <a:ln w="31750">
            <a:solidFill>
              <a:srgbClr val="14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94560" y="3849624"/>
            <a:ext cx="1051560" cy="352044"/>
          </a:xfrm>
          <a:prstGeom prst="line">
            <a:avLst/>
          </a:prstGeom>
          <a:ln w="31750">
            <a:solidFill>
              <a:srgbClr val="14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46120" y="3447288"/>
            <a:ext cx="1051559" cy="402336"/>
          </a:xfrm>
          <a:prstGeom prst="line">
            <a:avLst/>
          </a:prstGeom>
          <a:ln w="31750">
            <a:solidFill>
              <a:srgbClr val="14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297679" y="3044952"/>
            <a:ext cx="1051561" cy="402336"/>
          </a:xfrm>
          <a:prstGeom prst="line">
            <a:avLst/>
          </a:prstGeom>
          <a:ln w="31750">
            <a:solidFill>
              <a:srgbClr val="14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349240" y="2642616"/>
            <a:ext cx="1051560" cy="402336"/>
          </a:xfrm>
          <a:prstGeom prst="line">
            <a:avLst/>
          </a:prstGeom>
          <a:ln w="31750">
            <a:solidFill>
              <a:srgbClr val="14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0" y="1828800"/>
            <a:ext cx="3291840" cy="105156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1828800"/>
            <a:ext cx="45720" cy="1051560"/>
          </a:xfrm>
          <a:prstGeom prst="rect">
            <a:avLst/>
          </a:prstGeom>
          <a:solidFill>
            <a:srgbClr val="48C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993392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+95%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395728"/>
            <a:ext cx="2926080" cy="3657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Illustrative growth trend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154680"/>
            <a:ext cx="3291840" cy="105156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3154680"/>
            <a:ext cx="45720" cy="105156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319272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721608"/>
            <a:ext cx="2926080" cy="3657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Latest engagement index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4480560"/>
            <a:ext cx="3291840" cy="91440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480560"/>
            <a:ext cx="45720" cy="9144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4645152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6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047488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Reporting period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9CA8BB"/>
                </a:solidFill>
                <a:latin typeface="Aptos"/>
              </a:rPr>
              <a:t>ISMAIL  •  DIGITAL MARKETING STRATEGY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657600" cy="36576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88FF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9CA8BB"/>
                </a:solidFill>
                <a:latin typeface="Aptos"/>
              </a:rPr>
              <a:t>Success should be visible across awareness, engagement and business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347472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45720" cy="3474720"/>
          </a:xfrm>
          <a:prstGeom prst="rect">
            <a:avLst/>
          </a:prstGeom>
          <a:solidFill>
            <a:srgbClr val="1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95728"/>
            <a:ext cx="3017520" cy="2788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↑ Reach
↑ Profile visits
↑ Brand recall
Primary KPI: impressions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47472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45720" cy="347472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3017520" cy="2788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↑ Saves
↑ Comments
↑ Direct messages
Primary KPI: engagement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383280" cy="3474720"/>
          </a:xfrm>
          <a:prstGeom prst="roundRect">
            <a:avLst/>
          </a:prstGeom>
          <a:solidFill>
            <a:srgbClr val="0F1B2B"/>
          </a:solidFill>
          <a:ln w="10160">
            <a:solidFill>
              <a:srgbClr val="2D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45720" cy="3474720"/>
          </a:xfrm>
          <a:prstGeom prst="rect">
            <a:avLst/>
          </a:prstGeom>
          <a:solidFill>
            <a:srgbClr val="48C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95728"/>
            <a:ext cx="3017520" cy="2788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9CA8BB"/>
                </a:solidFill>
                <a:latin typeface="Aptos"/>
              </a:rPr>
              <a:t>↑ Qualified leads
↑ Conversions
↑ Repeat customers
Primary KPI: conversion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9CA8BB"/>
                </a:solidFill>
                <a:latin typeface="Aptos"/>
              </a:rPr>
              <a:t>ISMAIL  •  DIGITAL MARKETING STRATEGY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657600" cy="36576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88FF"/>
                </a:solidFill>
                <a:latin typeface="Aptos"/>
              </a:rPr>
              <a:t>READY TO GROW?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4F7FB"/>
                </a:solidFill>
                <a:latin typeface="Aptos"/>
              </a:rPr>
              <a:t>Let's Build Your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67712"/>
            <a:ext cx="10881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300" b="1">
                <a:solidFill>
                  <a:srgbClr val="1488FF"/>
                </a:solidFill>
                <a:latin typeface="Aptos"/>
              </a:rPr>
              <a:t>Digital Presence.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154680"/>
            <a:ext cx="9601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9CA8BB"/>
                </a:solidFill>
                <a:latin typeface="Aptos"/>
              </a:rPr>
              <a:t>Professional strategy  •  clean design  •  measurable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977639"/>
            <a:ext cx="3017520" cy="621792"/>
          </a:xfrm>
          <a:prstGeom prst="roundRect">
            <a:avLst/>
          </a:prstGeom>
          <a:solidFill>
            <a:srgbClr val="8D4CFF"/>
          </a:solidFill>
          <a:ln w="10160">
            <a:solidFill>
              <a:srgbClr val="8D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4572000" y="4169663"/>
            <a:ext cx="3017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CONTACT / PORTFOLIO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5897880"/>
            <a:ext cx="5943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9CA8BB"/>
                </a:solidFill>
                <a:latin typeface="Aptos"/>
              </a:rPr>
              <a:t>Portfolio Demo • Digital Marketing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