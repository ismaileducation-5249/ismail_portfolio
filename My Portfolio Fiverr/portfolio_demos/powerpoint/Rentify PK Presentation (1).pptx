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3" d="100"/>
          <a:sy n="63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46.png"/><Relationship Id="rId5" Type="http://schemas.openxmlformats.org/officeDocument/2006/relationships/image" Target="../media/image22.png"/><Relationship Id="rId10" Type="http://schemas.openxmlformats.org/officeDocument/2006/relationships/image" Target="../media/image45.png"/><Relationship Id="rId4" Type="http://schemas.openxmlformats.org/officeDocument/2006/relationships/image" Target="../media/image21.png"/><Relationship Id="rId9" Type="http://schemas.openxmlformats.org/officeDocument/2006/relationships/image" Target="../media/image4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6" y="1650652"/>
            <a:ext cx="3347144" cy="276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197548"/>
            <a:ext cx="2619375" cy="1009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1375" y="4197548"/>
            <a:ext cx="2619375" cy="1009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4197548"/>
            <a:ext cx="2619375" cy="1009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1125" y="4197548"/>
            <a:ext cx="2619375" cy="1009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2117377"/>
            <a:ext cx="11601450" cy="6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sz="4200" b="0" i="0" u="none">
                <a:solidFill>
                  <a:srgbClr val="0F172A"/>
                </a:solidFill>
                <a:latin typeface="Plus Jakarta Sans ExtraBold"/>
              </a:rPr>
              <a:t>Rentify PK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825948"/>
            <a:ext cx="11049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D9488"/>
                </a:solidFill>
                <a:latin typeface="Inter SemiBold"/>
              </a:rPr>
              <a:t>Pakistan's First All-in-One Car Rental Aggregator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397448"/>
            <a:ext cx="11049000" cy="220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400" b="0" i="0" u="none" dirty="0">
                <a:solidFill>
                  <a:srgbClr val="64748B"/>
                </a:solidFill>
                <a:latin typeface="Inter"/>
              </a:rPr>
              <a:t>Connecting customers with local rent-a-car vendors on a unified digital app to compare prices, verify vehicle conditions, and book easily from home.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567" y="1722089"/>
            <a:ext cx="140048" cy="1333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3425" y="4426148"/>
            <a:ext cx="2295525" cy="142875"/>
          </a:xfrm>
          <a:prstGeom prst="rect">
            <a:avLst/>
          </a:prstGeom>
          <a:noFill/>
        </p:spPr>
        <p:txBody>
          <a:bodyPr wrap="square" lIns="139154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B45309"/>
                </a:solidFill>
                <a:latin typeface="Inter"/>
              </a:rPr>
              <a:t>TEAM LEADER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3174" y="4636469"/>
            <a:ext cx="22955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  <a:latin typeface="Inter"/>
              </a:rPr>
              <a:t>Muhammad </a:t>
            </a:r>
            <a:r>
              <a:rPr sz="1200" b="1" i="0" u="none" dirty="0" err="1">
                <a:solidFill>
                  <a:srgbClr val="0F172A"/>
                </a:solidFill>
                <a:latin typeface="Inter"/>
              </a:rPr>
              <a:t>Tauseen</a:t>
            </a:r>
            <a:r>
              <a:rPr sz="1200" b="1" i="0" u="none" dirty="0">
                <a:solidFill>
                  <a:srgbClr val="0F172A"/>
                </a:solidFill>
                <a:latin typeface="Inter"/>
              </a:rPr>
              <a:t> Khan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3300" y="4426148"/>
            <a:ext cx="22955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D9488"/>
                </a:solidFill>
                <a:latin typeface="Inter"/>
              </a:rPr>
              <a:t>TEAM MEMBER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3300" y="4626173"/>
            <a:ext cx="22955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Ali Affan Siddiqui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3175" y="4426148"/>
            <a:ext cx="22955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D9488"/>
                </a:solidFill>
                <a:latin typeface="Inter"/>
              </a:rPr>
              <a:t>TEAM MEMBER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615" y="4636469"/>
            <a:ext cx="22955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  <a:latin typeface="Inter"/>
              </a:rPr>
              <a:t>Muhammad Ismail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3050" y="4426148"/>
            <a:ext cx="22955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D9488"/>
                </a:solidFill>
                <a:latin typeface="Inter"/>
              </a:rPr>
              <a:t>TEAM MEMBER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3050" y="4626173"/>
            <a:ext cx="22955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Huzaifa Mateen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4445198"/>
            <a:ext cx="139154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738C6F-620C-A06B-087E-085FAC074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677EEF1E-B60F-F954-9F8A-05378FC12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66EF5DAB-1264-E172-F080-696ED5E92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90625"/>
            <a:ext cx="5334000" cy="1181100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1750E310-322B-8D69-175F-9B0943C22F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62225"/>
            <a:ext cx="5334000" cy="1181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BB0A2D-52AA-B359-6C43-368942F5BCCD}"/>
              </a:ext>
            </a:extLst>
          </p:cNvPr>
          <p:cNvSpPr txBox="1"/>
          <p:nvPr/>
        </p:nvSpPr>
        <p:spPr>
          <a:xfrm>
            <a:off x="571500" y="476250"/>
            <a:ext cx="560070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Market Need &amp; Solution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C0EA0CA-48EC-7C6C-2D0E-1693DBDCE581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2C2540-601C-0DD5-A15E-2CD4F34DEB41}"/>
              </a:ext>
            </a:extLst>
          </p:cNvPr>
          <p:cNvSpPr txBox="1"/>
          <p:nvPr/>
        </p:nvSpPr>
        <p:spPr>
          <a:xfrm>
            <a:off x="800100" y="1343025"/>
            <a:ext cx="5160645" cy="21907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B45309"/>
                </a:solidFill>
                <a:latin typeface="Plus Jakarta Sans"/>
              </a:rPr>
              <a:t>The Problem in Pakistan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8A63A0-ECE9-C17B-BEAF-982D9CDB8FA1}"/>
              </a:ext>
            </a:extLst>
          </p:cNvPr>
          <p:cNvSpPr txBox="1"/>
          <p:nvPr/>
        </p:nvSpPr>
        <p:spPr>
          <a:xfrm>
            <a:off x="800100" y="1619250"/>
            <a:ext cx="49149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Car rentals in Pakistan are offline and fragmented. Customers physically visit multiple shops, face hidden charges, lack price transparency, and often receive poorly maintained cars without guaranteed availability.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A737FD-0A60-B69F-53C9-AC7834725936}"/>
              </a:ext>
            </a:extLst>
          </p:cNvPr>
          <p:cNvSpPr txBox="1"/>
          <p:nvPr/>
        </p:nvSpPr>
        <p:spPr>
          <a:xfrm>
            <a:off x="800100" y="2714625"/>
            <a:ext cx="5160645" cy="21907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766E"/>
                </a:solidFill>
                <a:latin typeface="Plus Jakarta Sans"/>
              </a:rPr>
              <a:t>Our Solution: Rentify PK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12B5CC-75F8-E957-7BB0-6B04593301CE}"/>
              </a:ext>
            </a:extLst>
          </p:cNvPr>
          <p:cNvSpPr txBox="1"/>
          <p:nvPr/>
        </p:nvSpPr>
        <p:spPr>
          <a:xfrm>
            <a:off x="800100" y="2990850"/>
            <a:ext cx="49149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A single mobile app bringing local rent-a-car providers together. Compare live rates, review verified vehicle conditions, check model availability, and book instantly with doorstep delivery.</a:t>
            </a:r>
          </a:p>
        </p:txBody>
      </p:sp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4EC324F3-7041-2BE5-E811-646CA5A504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762" y="1362075"/>
            <a:ext cx="171450" cy="171450"/>
          </a:xfrm>
          <a:prstGeom prst="rect">
            <a:avLst/>
          </a:prstGeom>
        </p:spPr>
      </p:pic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D91DDF60-67DA-1627-794B-A9FD42496E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762" y="2752725"/>
            <a:ext cx="171450" cy="1714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8527202-1AF0-9343-C1A1-26C0ED2E85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7461" y="-420078"/>
            <a:ext cx="5824539" cy="727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180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71750"/>
            <a:ext cx="2619375" cy="24288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375" y="2571750"/>
            <a:ext cx="2619375" cy="2428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2571750"/>
            <a:ext cx="2619375" cy="2428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1125" y="2571750"/>
            <a:ext cx="2619375" cy="2428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838450"/>
            <a:ext cx="2667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00" y="2838450"/>
            <a:ext cx="2667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9375" y="2838450"/>
            <a:ext cx="2667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9250" y="2838450"/>
            <a:ext cx="26670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9625" y="3257550"/>
            <a:ext cx="225028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Search &amp; 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3619500"/>
            <a:ext cx="21431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User enters city, pick-up date, duration, preferred car category (e.g. Sedan, SUV, Economy) or specific model.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9500" y="3257550"/>
            <a:ext cx="225028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Compare &amp; Inspect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9500" y="3619500"/>
            <a:ext cx="214312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Browse local vendor listings. Compare prices, inspect real car photos, read customer reviews, and check vehicle mileage.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3257550"/>
            <a:ext cx="225028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Book from Home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3619500"/>
            <a:ext cx="21431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Confirm booking with flexible payment options (EasyPaisa, JazzCash, Card, or Cash on Delivery).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0" y="3257550"/>
            <a:ext cx="225028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Drive &amp; Return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0" y="3619500"/>
            <a:ext cx="21431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Receive the car at your doorstep or pick up from vendor location with digital verification contract.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How It Works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69381"/>
            <a:ext cx="3530649" cy="22336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669381"/>
            <a:ext cx="3530649" cy="22336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669381"/>
            <a:ext cx="3530649" cy="22336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945606"/>
            <a:ext cx="514350" cy="514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650456"/>
            <a:ext cx="233029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Smart Price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983831"/>
            <a:ext cx="305439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Eliminates overcharging by letting users compare competitive rates across dozens of local vendors in real-time.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874" y="2945606"/>
            <a:ext cx="514350" cy="514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68874" y="3650456"/>
            <a:ext cx="212026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Verified Car Condition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8874" y="3983831"/>
            <a:ext cx="305439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Every car listing includes high-res photos, recent maintenance status, mileage, and authentic user ratings.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124" y="2945606"/>
            <a:ext cx="514350" cy="514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8124" y="3650456"/>
            <a:ext cx="177022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Doorstep Booking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8124" y="3983831"/>
            <a:ext cx="305439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No need to travel to markets. Complete identity check online and request car delivery directly to your home.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" y="3088481"/>
            <a:ext cx="22860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1749" y="3088481"/>
            <a:ext cx="22860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56711" y="3088481"/>
            <a:ext cx="257175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Core Features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52725"/>
            <a:ext cx="2647950" cy="2066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1850" y="2752725"/>
            <a:ext cx="2647950" cy="20669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752725"/>
            <a:ext cx="2647950" cy="20669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2550" y="2752725"/>
            <a:ext cx="2647950" cy="20669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2952750"/>
            <a:ext cx="419100" cy="4191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1525" y="3562350"/>
            <a:ext cx="141017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App Developers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3876675"/>
            <a:ext cx="2247900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2 Tech Students to build &amp; maintain Flutter mobile app and web admin panel using open-source tools.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1875" y="2952750"/>
            <a:ext cx="419100" cy="4191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571875" y="3562350"/>
            <a:ext cx="154019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Vendor Managers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1875" y="3876675"/>
            <a:ext cx="2247900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Onboard local rent-a-car shop owners, verify business documents, and register vehicles onto app.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2225" y="2952750"/>
            <a:ext cx="419100" cy="4191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72225" y="3562350"/>
            <a:ext cx="148018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Digital Marketers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2225" y="3876675"/>
            <a:ext cx="2247900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Run targeted social media campaigns (Instagram, TikTok, Facebook) &amp; university campus drives.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72575" y="2952750"/>
            <a:ext cx="419100" cy="4191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172575" y="3562350"/>
            <a:ext cx="164020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Customer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2575" y="3876675"/>
            <a:ext cx="224790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1-2 Reps to handle online bookings, customer inquiries, and booking issue resolutions via WhatsApp/Phone.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2012" y="3067050"/>
            <a:ext cx="238125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62362" y="3067050"/>
            <a:ext cx="238125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86525" y="3067050"/>
            <a:ext cx="190500" cy="1905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86875" y="3067050"/>
            <a:ext cx="190500" cy="1905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Human Resources Needed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05050"/>
            <a:ext cx="11049000" cy="33194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947862"/>
            <a:ext cx="110490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As university students, we designed a ultra-low budget MVP (Minimum Viable Product) utilizing open-source technology and digital marketing: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762899"/>
              </p:ext>
            </p:extLst>
          </p:nvPr>
        </p:nvGraphicFramePr>
        <p:xfrm>
          <a:off x="581025" y="2314575"/>
          <a:ext cx="11029947" cy="3300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3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24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837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0068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Inter"/>
                        </a:rPr>
                        <a:t>Cost Category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Inter"/>
                        </a:rPr>
                        <a:t>Description / Resource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Inter"/>
                        </a:rPr>
                        <a:t>Estimated Cost (PKR)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Inter"/>
                        </a:rPr>
                        <a:t>Strategy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068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App &amp; Domain Setup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Firebase Backend, Domain &amp; Flutter App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125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Built internally by student developers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068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Social Media Ads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Targeted Facebook, Instagram &amp; TikTok Ads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125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Hyper-local marketing in top cities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068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Vendor Onboarding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Print Flyers, Business Contracts &amp; Verification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125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Direct field visits by founders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068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Legal &amp; Miscellaneous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Basic Business Registration &amp; SMS Gateway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125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Pay-as-you-go SMS API integration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007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6534"/>
                          </a:solidFill>
                          <a:latin typeface="Inter"/>
                        </a:rPr>
                        <a:t>TOTAL INITIAL BUDGET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6534"/>
                          </a:solidFill>
                          <a:latin typeface="Inter"/>
                        </a:rPr>
                        <a:t>Lean Bootstrap Student Capital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6534"/>
                          </a:solidFill>
                          <a:latin typeface="Inter"/>
                        </a:rPr>
                        <a:t>PKR 65,000 (~$230)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rgbClr val="166534"/>
                          </a:solidFill>
                          <a:latin typeface="Inter"/>
                        </a:rPr>
                        <a:t>Budget Friendly Startup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81025" y="3395662"/>
            <a:ext cx="21432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24298" y="3395662"/>
            <a:ext cx="37305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54824" y="3395662"/>
            <a:ext cx="20724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27256" y="3395662"/>
            <a:ext cx="30837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1025" y="3957637"/>
            <a:ext cx="21432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24298" y="3957637"/>
            <a:ext cx="37305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54824" y="3957637"/>
            <a:ext cx="20724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527256" y="3957637"/>
            <a:ext cx="30837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4519612"/>
            <a:ext cx="21432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24298" y="4519612"/>
            <a:ext cx="37305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54824" y="4519612"/>
            <a:ext cx="20724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527256" y="4519612"/>
            <a:ext cx="30837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1025" y="5081587"/>
            <a:ext cx="21432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24298" y="5081587"/>
            <a:ext cx="37305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54824" y="5081587"/>
            <a:ext cx="20724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527256" y="5081587"/>
            <a:ext cx="30837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324" y="3019424"/>
            <a:ext cx="847725" cy="2476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5324" y="3562350"/>
            <a:ext cx="828675" cy="2476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5324" y="4124325"/>
            <a:ext cx="838200" cy="2476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5324" y="4686300"/>
            <a:ext cx="828675" cy="2476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Lean Startup Budget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69381"/>
            <a:ext cx="3530649" cy="22336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669381"/>
            <a:ext cx="3530649" cy="22336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669381"/>
            <a:ext cx="3530649" cy="22336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945606"/>
            <a:ext cx="514350" cy="514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650456"/>
            <a:ext cx="193024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Vendor Commission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983831"/>
            <a:ext cx="305439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We charge a </a:t>
            </a:r>
            <a:r>
              <a:rPr sz="1125" b="1" i="0" u="none">
                <a:solidFill>
                  <a:srgbClr val="64748B"/>
                </a:solidFill>
                <a:latin typeface="Inter"/>
              </a:rPr>
              <a:t>5% to 8% commission</a:t>
            </a:r>
            <a:r>
              <a:rPr sz="1125" b="0" i="0" u="none">
                <a:solidFill>
                  <a:srgbClr val="64748B"/>
                </a:solidFill>
                <a:latin typeface="Inter"/>
              </a:rPr>
              <a:t> fee from car rental vendors on every successful booking completed through the app.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874" y="2945606"/>
            <a:ext cx="514350" cy="514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68874" y="3650456"/>
            <a:ext cx="166020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Featured Listings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8874" y="3983831"/>
            <a:ext cx="305439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Local rental vendors pay a monthly fee (e.g. PKR 3,000/mo) to highlight their cars at the top of customer search results.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124" y="2945606"/>
            <a:ext cx="514350" cy="514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8124" y="3650456"/>
            <a:ext cx="229028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Damage Protection Fee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8124" y="3983831"/>
            <a:ext cx="305439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Small optional convenience charge (PKR 300 - 500 per booking) paid by renters for basic damage coverage partnership.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075" y="3088481"/>
            <a:ext cx="17145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97462" y="3088481"/>
            <a:ext cx="257175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0999" y="3088481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How We Earn Money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581525"/>
            <a:ext cx="5334000" cy="781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76437"/>
            <a:ext cx="5334000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209800"/>
            <a:ext cx="56007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D9488"/>
                </a:solidFill>
                <a:latin typeface="Plus Jakarta Sans"/>
              </a:rPr>
              <a:t>Why Rentify PK Will Succeed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2667000"/>
            <a:ext cx="5048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First-Mover Advantage: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Modernizes an entirely offline market in Pakistan.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276600"/>
            <a:ext cx="5048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Highly Scalable: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Asset-light model; we don't buy cars, we connect existing owners.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886200"/>
            <a:ext cx="5048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Student Budget Ready: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Ultra-low initial capital required to launch MVP.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724400"/>
            <a:ext cx="49530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F59E0B"/>
                </a:solidFill>
                <a:latin typeface="Inter"/>
              </a:rPr>
              <a:t>Thank You for Listening!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5019675"/>
            <a:ext cx="4953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We are ready to answer your questions.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1976437"/>
            <a:ext cx="5334000" cy="3619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690812"/>
            <a:ext cx="17145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300412"/>
            <a:ext cx="17145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910012"/>
            <a:ext cx="171450" cy="1809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Conclusion &amp; Questions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625</Words>
  <Application>Microsoft Office PowerPoint</Application>
  <PresentationFormat>Widescreen</PresentationFormat>
  <Paragraphs>77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Inter</vt:lpstr>
      <vt:lpstr>Inter SemiBold</vt:lpstr>
      <vt:lpstr>Plus Jakarta Sans</vt:lpstr>
      <vt:lpstr>Plus Jakarta Sans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GIBTEK</cp:lastModifiedBy>
  <cp:revision>3</cp:revision>
  <dcterms:created xsi:type="dcterms:W3CDTF">2013-01-27T09:14:16Z</dcterms:created>
  <dcterms:modified xsi:type="dcterms:W3CDTF">2026-08-24T05:04:47Z</dcterms:modified>
  <cp:category/>
</cp:coreProperties>
</file>