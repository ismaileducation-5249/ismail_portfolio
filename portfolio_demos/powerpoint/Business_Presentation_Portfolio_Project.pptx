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791FF"/>
            </a:solidFill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45</c:v>
                </c:pt>
                <c:pt idx="2">
                  <c:v>42</c:v>
                </c:pt>
                <c:pt idx="3">
                  <c:v>58</c:v>
                </c:pt>
                <c:pt idx="4">
                  <c:v>65</c:v>
                </c:pt>
                <c:pt idx="5">
                  <c:v>72</c:v>
                </c:pt>
                <c:pt idx="6">
                  <c:v>81</c:v>
                </c:pt>
                <c:pt idx="7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BUSINESS PRESENTATION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F5F8FC"/>
                </a:solidFill>
                <a:latin typeface="Aptos"/>
              </a:rPr>
              <a:t>STRATEGY.
GROWTH.
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25196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B5CA"/>
                </a:solidFill>
                <a:latin typeface="Aptos"/>
              </a:rPr>
              <a:t>A premium corporate growth strategy designed to communicate
opportunity, performance, and measurable business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143000"/>
            <a:ext cx="3794760" cy="4434840"/>
          </a:xfrm>
          <a:prstGeom prst="roundRect">
            <a:avLst/>
          </a:prstGeom>
          <a:solidFill>
            <a:srgbClr val="0F1D34"/>
          </a:solidFill>
          <a:ln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GROWTH
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86200"/>
            <a:ext cx="411480" cy="100584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59952" y="3474720"/>
            <a:ext cx="411480" cy="141732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3184" y="3017520"/>
            <a:ext cx="411480" cy="1874519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86416" y="2468879"/>
            <a:ext cx="411480" cy="2423160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Revenue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Turning challenges into growth opportunities.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5CA"/>
                </a:solidFill>
                <a:latin typeface="Aptos"/>
              </a:rPr>
              <a:t>A focused strategy built around four measurable priorities.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429000" cy="25146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Business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85032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Increasing competition, changing customer expectations, and a rapidly evolving digital market require sharper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514600"/>
            <a:ext cx="3429000" cy="25146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200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Digital expansion and stronger customer engagement create significant room for sustainable revenue and customer growth.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514600"/>
            <a:ext cx="3429000" cy="25146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3200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Key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3685032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Build a scalable growth engine focused on acquisition, conversion, retention, and market reach.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Built for sustainable business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Help businesses achieve measurable growth through strategic planning, customer-focused solutions, and data-driven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5CA"/>
                </a:solidFill>
                <a:latin typeface="Aptos"/>
              </a:rPr>
              <a:t>Become a recognized market leader by delivering consistent value, innovation, and exceptional customer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51460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85032"/>
            <a:ext cx="2057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Clear planning &amp; positioning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51460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2004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685032"/>
            <a:ext cx="2057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Customer acquisition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11480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343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8006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285232"/>
            <a:ext cx="2057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Data-driven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11480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4343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8006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285232"/>
            <a:ext cx="2057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5CA"/>
                </a:solidFill>
                <a:latin typeface="Aptos"/>
              </a:rPr>
              <a:t>Scalable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Understand the market before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4892040" cy="306324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TARGET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Digital-first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5CA"/>
                </a:solidFill>
                <a:latin typeface="Aptos"/>
              </a:rPr>
              <a:t>Customers increasingly expect convenient digital experiences, fast service, personalized communication, and reliable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prefer convenient digital experiences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COMPETITOR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Our Business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081528"/>
            <a:ext cx="3063240" cy="164592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3081528"/>
            <a:ext cx="2818180" cy="164592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3017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8FC"/>
                </a:solidFill>
                <a:latin typeface="Aptos"/>
              </a:rP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7033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Competitor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721607"/>
            <a:ext cx="3063240" cy="164592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3721607"/>
            <a:ext cx="2328062" cy="164592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52760" y="3657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8FC"/>
                </a:solidFill>
                <a:latin typeface="Aptos"/>
              </a:rPr>
              <a:t>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3434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Competitor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361688"/>
            <a:ext cx="3063240" cy="164592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4361688"/>
            <a:ext cx="1960473" cy="164592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4297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8FC"/>
                </a:solidFill>
                <a:latin typeface="Aptos"/>
              </a:rP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983479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Competitor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5001767"/>
            <a:ext cx="3063240" cy="164592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52360" y="5001767"/>
            <a:ext cx="1562252" cy="164592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2760" y="49377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8FC"/>
                </a:solidFill>
                <a:latin typeface="Aptos"/>
              </a:rPr>
              <a:t>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Four pillars driving the growth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07492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97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Market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1363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Enter new segments and identify high-potential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07492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697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Customer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363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Improve campaigns and build stronger conversion funnels.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07492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Brand 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Communicate clear value and strengthen market perception.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14800"/>
            <a:ext cx="507492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Data &amp;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365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Use performance data to continuously optimize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Performance that can be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5CA"/>
                </a:solidFill>
                <a:latin typeface="Aptos"/>
              </a:rPr>
              <a:t>Illustrative KPI snapshot for a client-facing business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32.8%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Revenue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B5CA"/>
                </a:solidFill>
                <a:latin typeface="Aptos"/>
              </a:rPr>
              <a:t>+8.4% vs previous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2316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24.6%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27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Customer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015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B5CA"/>
                </a:solidFill>
                <a:latin typeface="Aptos"/>
              </a:rPr>
              <a:t>+6.2% vs previous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2316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18.4%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27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015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B5CA"/>
                </a:solidFill>
                <a:latin typeface="Aptos"/>
              </a:rPr>
              <a:t>+4.1% improvement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2423160"/>
            <a:ext cx="2514600" cy="13258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127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Market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4015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B5CA"/>
                </a:solidFill>
                <a:latin typeface="Aptos"/>
              </a:rPr>
              <a:t>+12.7% expansion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0080" y="4160520"/>
          <a:ext cx="107899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From foundation to market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10241280" cy="36576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91FF"/>
                </a:solidFill>
                <a:latin typeface="Aptos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Build systems, strengthen positioning and optimize operations.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3456432"/>
            <a:ext cx="502920" cy="50292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91FF"/>
                </a:solidFill>
                <a:latin typeface="Aptos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251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754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Enter new markets and increase customer acquisition.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456432"/>
            <a:ext cx="502920" cy="50292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91FF"/>
                </a:solidFill>
                <a:latin typeface="Aptos"/>
              </a:rP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51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754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Expand services and establish scalable growth systems.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3456432"/>
            <a:ext cx="502920" cy="50292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91FF"/>
                </a:solidFill>
                <a:latin typeface="Aptos"/>
              </a:rPr>
              <a:t>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251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754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A"/>
                </a:solidFill>
                <a:latin typeface="Aptos"/>
              </a:rPr>
              <a:t>Strengthen market position and lead the category.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Designed around measurable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2514600" cy="2240280"/>
          </a:xfrm>
          <a:prstGeom prst="roundRect">
            <a:avLst/>
          </a:prstGeom>
          <a:solidFill>
            <a:srgbClr val="0F1D34"/>
          </a:solidFill>
          <a:ln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+32.8%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CF94"/>
                </a:solidFill>
                <a:latin typeface="Aptos"/>
              </a:rPr>
              <a:t>↑ Positive momentum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14600"/>
            <a:ext cx="2514600" cy="2240280"/>
          </a:xfrm>
          <a:prstGeom prst="roundRect">
            <a:avLst/>
          </a:prstGeom>
          <a:solidFill>
            <a:srgbClr val="0F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971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+24.6%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Customer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343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CF94"/>
                </a:solidFill>
                <a:latin typeface="Aptos"/>
              </a:rPr>
              <a:t>↑ Positive momentum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2514600" cy="2240280"/>
          </a:xfrm>
          <a:prstGeom prst="roundRect">
            <a:avLst/>
          </a:prstGeom>
          <a:solidFill>
            <a:srgbClr val="0F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+18.4%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Conversion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43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CF94"/>
                </a:solidFill>
                <a:latin typeface="Aptos"/>
              </a:rPr>
              <a:t>↑ Positive momentum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514600"/>
            <a:ext cx="2514600" cy="2240280"/>
          </a:xfrm>
          <a:prstGeom prst="roundRect">
            <a:avLst/>
          </a:prstGeom>
          <a:solidFill>
            <a:srgbClr val="0F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971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+48%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Market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4343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CF94"/>
                </a:solidFill>
                <a:latin typeface="Aptos"/>
              </a:rPr>
              <a:t>↑ Positive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16636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clear strategy connects market opportunity to measurable business performance — making the story easier for stakeholders and clients to understand.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93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5CA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A focused strategy creates a stronger path forward.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68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Align the business around clear growth priorities.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74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Invest in customer acquisition and digital experiences.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262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91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480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Measure performance and optimize continuously.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514600"/>
            <a:ext cx="1600200" cy="29260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91FF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429000"/>
            <a:ext cx="960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PLAN
→
EXECUTE
→
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A"/>
                </a:solidFill>
                <a:latin typeface="Aptos"/>
              </a:rPr>
              <a:t>STRATEGY • GROWTH •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91FF"/>
                </a:solidFill>
                <a:latin typeface="Aptos"/>
              </a:rPr>
              <a:t>FINAL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9552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READY TO TURN
STRATEGY INTO
MEASURABLE GROWTH?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251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5CA"/>
                </a:solidFill>
                <a:latin typeface="Aptos"/>
              </a:rPr>
              <a:t>Professional presentations designed to communicate ideas clearly,
impress stakeholders, and support better business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28800"/>
            <a:ext cx="2423160" cy="2423160"/>
          </a:xfrm>
          <a:prstGeom prst="roundRect">
            <a:avLst/>
          </a:prstGeom>
          <a:solidFill>
            <a:srgbClr val="0F1D34"/>
          </a:solidFill>
          <a:ln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42832" y="251460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LET'S
WORK
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6B5CA"/>
                </a:solidFill>
                <a:latin typeface="Aptos"/>
              </a:rPr>
              <a:t>Business Presentation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